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8962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60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1620"/>
            <a:ext cx="10566400" cy="41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89620"/>
            <a:ext cx="1056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0000"/>
              </a:lnSpc>
              <a:buNone/>
              <a:defRPr lang="en-US" sz="360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1620"/>
            <a:ext cx="10566400" cy="4193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STRUCTURES &amp; ALGORITHMS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8520"/>
            <a:ext cx="10883392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400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12800" y="2143720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&amp; Conquer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2800" y="5196880"/>
            <a:ext cx="378669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Piyush Dekate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593110"/>
            <a:ext cx="4411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PRN: 25070521195 · Section D · III Semester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50400" y="5151189"/>
            <a:ext cx="21945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71415" y="5628680"/>
            <a:ext cx="18077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A55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· Average · Worst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3F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Merge Sort?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81411"/>
            <a:ext cx="9156700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3A4A8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comparison-based sorting algorithm that recursively splits an array into halves, sorts each half independently, then merges them back into a single sorted array.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677071"/>
            <a:ext cx="3386634" cy="3164929"/>
          </a:xfrm>
          <a:prstGeom prst="roundRect">
            <a:avLst>
              <a:gd name="adj" fmla="val 2408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77071"/>
            <a:ext cx="3386634" cy="3164929"/>
          </a:xfrm>
          <a:custGeom>
            <a:avLst/>
            <a:gdLst/>
            <a:ahLst/>
            <a:cxnLst/>
            <a:rect l="l" t="t" r="r" b="b"/>
            <a:pathLst>
              <a:path w="3386634" h="3164929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34" y="0"/>
                </a:lnTo>
                <a:arcTo hR="76200" wR="76200" stAng="16200000" swAng="5400000"/>
                <a:lnTo>
                  <a:pt x="3386634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5B8DEE"/>
          </a:solidFill>
          <a:ln/>
        </p:spPr>
      </p:sp>
      <p:pic>
        <p:nvPicPr>
          <p:cNvPr id="7" name="Image 0" descr="Lightn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956471"/>
            <a:ext cx="279400" cy="27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800" y="3337471"/>
            <a:ext cx="296499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3682901"/>
            <a:ext cx="2964993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Breaks the problem into sub-problems until each sub-array is trivially sorted (a single element).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02634" y="2677071"/>
            <a:ext cx="3386683" cy="3164929"/>
          </a:xfrm>
          <a:prstGeom prst="roundRect">
            <a:avLst>
              <a:gd name="adj" fmla="val 2408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402634" y="2677071"/>
            <a:ext cx="3386683" cy="3164929"/>
          </a:xfrm>
          <a:custGeom>
            <a:avLst/>
            <a:gdLst/>
            <a:ahLst/>
            <a:cxnLst/>
            <a:rect l="l" t="t" r="r" b="b"/>
            <a:pathLst>
              <a:path w="3386683" h="3164929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3" y="0"/>
                </a:lnTo>
                <a:arcTo hR="76200" wR="76200" stAng="16200000" swAng="5400000"/>
                <a:lnTo>
                  <a:pt x="3386683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F5944E"/>
          </a:solidFill>
          <a:ln/>
        </p:spPr>
      </p:sp>
      <p:pic>
        <p:nvPicPr>
          <p:cNvPr id="12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34" y="2956471"/>
            <a:ext cx="279400" cy="279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6634" y="3337471"/>
            <a:ext cx="29650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56634" y="3682901"/>
            <a:ext cx="296504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Guarantees O(n log n) time in all cases — best, average, and worst — unlike Quick Sort.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992517" y="2677071"/>
            <a:ext cx="3386683" cy="3164929"/>
          </a:xfrm>
          <a:prstGeom prst="roundRect">
            <a:avLst>
              <a:gd name="adj" fmla="val 2408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92517" y="2677071"/>
            <a:ext cx="3386683" cy="3164929"/>
          </a:xfrm>
          <a:custGeom>
            <a:avLst/>
            <a:gdLst/>
            <a:ahLst/>
            <a:cxnLst/>
            <a:rect l="l" t="t" r="r" b="b"/>
            <a:pathLst>
              <a:path w="3386683" h="3164929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3" y="0"/>
                </a:lnTo>
                <a:arcTo hR="76200" wR="76200" stAng="16200000" swAng="5400000"/>
                <a:lnTo>
                  <a:pt x="3386683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34D58F"/>
          </a:solidFill>
          <a:ln/>
        </p:spPr>
      </p:sp>
      <p:pic>
        <p:nvPicPr>
          <p:cNvPr id="17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17" y="2956471"/>
            <a:ext cx="279400" cy="279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46517" y="3337471"/>
            <a:ext cx="296504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246517" y="3682901"/>
            <a:ext cx="2965044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 elements retain their original relative order, crucial for multi-key sorting scenarios.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STRATEGY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9620"/>
            <a:ext cx="108833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&amp; Conquer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9150" y="1857970"/>
            <a:ext cx="5156200" cy="3977680"/>
          </a:xfrm>
          <a:prstGeom prst="roundRect">
            <a:avLst>
              <a:gd name="adj" fmla="val 2395"/>
            </a:avLst>
          </a:prstGeom>
          <a:solidFill>
            <a:srgbClr val="142038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5700" y="2194520"/>
            <a:ext cx="26417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96070" y="2268190"/>
            <a:ext cx="1088886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5700" y="2870150"/>
            <a:ext cx="461759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the array at the midpoint. Keep splitting recursively until every sub-array is a single element — which is already sorted by definition.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5700" y="390133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55440" y="3901331"/>
            <a:ext cx="274718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 mid = (left + right) /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5700" y="423788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55440" y="4237881"/>
            <a:ext cx="272676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Recurse on left half [left .. mid]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5700" y="457443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55440" y="4574431"/>
            <a:ext cx="319355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Recurse on right half [mid+1 .. right]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6650" y="1857970"/>
            <a:ext cx="5156200" cy="3977680"/>
          </a:xfrm>
          <a:prstGeom prst="roundRect">
            <a:avLst>
              <a:gd name="adj" fmla="val 2395"/>
            </a:avLst>
          </a:prstGeom>
          <a:solidFill>
            <a:srgbClr val="142038"/>
          </a:solidFill>
          <a:ln w="12700">
            <a:solidFill>
              <a:srgbClr val="34D5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200" y="2194520"/>
            <a:ext cx="408206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⊕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20371" y="2268190"/>
            <a:ext cx="1456134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Conquer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53200" y="2870150"/>
            <a:ext cx="4617593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two adjacent sorted sub-arrays into one sorted array using a two-pointer technique, writing back to the original array via a temp buffer.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53200" y="390133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2940" y="3901331"/>
            <a:ext cx="3130927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Pointer i on left, j on right sub-array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3200" y="423788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2940" y="4237881"/>
            <a:ext cx="34229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smaller element into temp buffer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53200" y="4574431"/>
            <a:ext cx="2489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2940" y="4574431"/>
            <a:ext cx="364545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A8C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any remaining elements, write back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3F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Step-by-Step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8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73200" y="1960811"/>
            <a:ext cx="771170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the base case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73200" y="2257971"/>
            <a:ext cx="8984516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If </a:t>
            </a:r>
            <a:r>
              <a:rPr lang="en-US" sz="135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&gt;= right</a:t>
            </a: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the sub-array has at most one element and is already sorted — return immediately.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12800" y="269294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8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3200" y="2769146"/>
            <a:ext cx="622338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 the midpoint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73200" y="3066306"/>
            <a:ext cx="7250549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Compute </a:t>
            </a:r>
            <a:r>
              <a:rPr lang="en-US" sz="135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mid = (left + right) / 2</a:t>
            </a: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split the range into two roughly equal halves.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2800" y="350128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8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" y="3577481"/>
            <a:ext cx="657769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Recurse on both halves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73200" y="3874641"/>
            <a:ext cx="7663339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</a:t>
            </a:r>
            <a:r>
              <a:rPr lang="en-US" sz="135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mergeSort(left, mid)</a:t>
            </a: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and </a:t>
            </a:r>
            <a:r>
              <a:rPr lang="en-US" sz="135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mergeSort(mid+1, right)</a:t>
            </a: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until base cases are reached.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800" y="43096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44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73200" y="4385816"/>
            <a:ext cx="686374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the sorted halves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73200" y="4682976"/>
            <a:ext cx="7996595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Call </a:t>
            </a:r>
            <a:r>
              <a:rPr lang="en-US" sz="1350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merge(left, mid, right)</a:t>
            </a:r>
            <a:r>
              <a:rPr lang="en-US" sz="135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combine the two sorted sub-arrays into one sorted result.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96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Phase — Recursion Tree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1032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Input: [9, -5, 7, -2, -1] · Green = base case (single element, already sorted)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24350" y="2101850"/>
            <a:ext cx="3543300" cy="393700"/>
          </a:xfrm>
          <a:prstGeom prst="roundRect">
            <a:avLst>
              <a:gd name="adj" fmla="val 14516"/>
            </a:avLst>
          </a:prstGeom>
          <a:solidFill>
            <a:srgbClr val="1A2F52"/>
          </a:solidFill>
          <a:ln w="12700">
            <a:solidFill>
              <a:srgbClr val="5B8DE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9, -5, 7, -2, -1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38350" y="2959100"/>
            <a:ext cx="2019300" cy="393700"/>
          </a:xfrm>
          <a:prstGeom prst="roundRect">
            <a:avLst>
              <a:gd name="adj" fmla="val 14516"/>
            </a:avLst>
          </a:prstGeom>
          <a:solidFill>
            <a:srgbClr val="1A2F52"/>
          </a:solidFill>
          <a:ln w="12700">
            <a:solidFill>
              <a:srgbClr val="5B8DE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AA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9, -5, 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83550" y="2959100"/>
            <a:ext cx="1511300" cy="393700"/>
          </a:xfrm>
          <a:prstGeom prst="roundRect">
            <a:avLst>
              <a:gd name="adj" fmla="val 14516"/>
            </a:avLst>
          </a:prstGeom>
          <a:solidFill>
            <a:srgbClr val="1A2F52"/>
          </a:solidFill>
          <a:ln w="12700">
            <a:solidFill>
              <a:srgbClr val="5B8DE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AA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-2, 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0150" y="3879850"/>
            <a:ext cx="1409700" cy="393700"/>
          </a:xfrm>
          <a:prstGeom prst="roundRect">
            <a:avLst>
              <a:gd name="adj" fmla="val 14516"/>
            </a:avLst>
          </a:prstGeom>
          <a:solidFill>
            <a:srgbClr val="1A2F52"/>
          </a:solidFill>
          <a:ln w="12700">
            <a:solidFill>
              <a:srgbClr val="5B8DE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8FAAD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9, -5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86150" y="3879850"/>
            <a:ext cx="698500" cy="393700"/>
          </a:xfrm>
          <a:prstGeom prst="roundRect">
            <a:avLst>
              <a:gd name="adj" fmla="val 14516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53350" y="3879850"/>
            <a:ext cx="698500" cy="393700"/>
          </a:xfrm>
          <a:prstGeom prst="roundRect">
            <a:avLst>
              <a:gd name="adj" fmla="val 14516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26550" y="3879850"/>
            <a:ext cx="698500" cy="393700"/>
          </a:xfrm>
          <a:prstGeom prst="roundRect">
            <a:avLst>
              <a:gd name="adj" fmla="val 14516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0150" y="4806950"/>
            <a:ext cx="622300" cy="393700"/>
          </a:xfrm>
          <a:prstGeom prst="roundRect">
            <a:avLst>
              <a:gd name="adj" fmla="val 14516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87550" y="4806950"/>
            <a:ext cx="622300" cy="393700"/>
          </a:xfrm>
          <a:prstGeom prst="roundRect">
            <a:avLst>
              <a:gd name="adj" fmla="val 14516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pic>
        <p:nvPicPr>
          <p:cNvPr id="1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09900" y="2463800"/>
            <a:ext cx="3124200" cy="527050"/>
          </a:xfrm>
          <a:prstGeom prst="rect">
            <a:avLst/>
          </a:prstGeom>
        </p:spPr>
      </p:pic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57900" y="2463800"/>
            <a:ext cx="2819400" cy="527050"/>
          </a:xfrm>
          <a:prstGeom prst="rect">
            <a:avLst/>
          </a:prstGeom>
        </p:spPr>
      </p:pic>
      <p:pic>
        <p:nvPicPr>
          <p:cNvPr id="1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66900" y="3321050"/>
            <a:ext cx="1219200" cy="590550"/>
          </a:xfrm>
          <a:prstGeom prst="rect">
            <a:avLst/>
          </a:prstGeom>
        </p:spPr>
      </p:pic>
      <p:pic>
        <p:nvPicPr>
          <p:cNvPr id="1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009900" y="3321050"/>
            <a:ext cx="863600" cy="590550"/>
          </a:xfrm>
          <a:prstGeom prst="rect">
            <a:avLst/>
          </a:prstGeom>
        </p:spPr>
      </p:pic>
      <p:pic>
        <p:nvPicPr>
          <p:cNvPr id="1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64500" y="3321050"/>
            <a:ext cx="812800" cy="590550"/>
          </a:xfrm>
          <a:prstGeom prst="rect">
            <a:avLst/>
          </a:prstGeom>
        </p:spPr>
      </p:pic>
      <p:pic>
        <p:nvPicPr>
          <p:cNvPr id="1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801100" y="3321050"/>
            <a:ext cx="812800" cy="590550"/>
          </a:xfrm>
          <a:prstGeom prst="rect">
            <a:avLst/>
          </a:prstGeom>
        </p:spPr>
      </p:pic>
      <p:pic>
        <p:nvPicPr>
          <p:cNvPr id="20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473200" y="4241800"/>
            <a:ext cx="469900" cy="596900"/>
          </a:xfrm>
          <a:prstGeom prst="rect">
            <a:avLst/>
          </a:prstGeom>
        </p:spPr>
      </p:pic>
      <p:pic>
        <p:nvPicPr>
          <p:cNvPr id="21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866900" y="4241800"/>
            <a:ext cx="469900" cy="59690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10440839" y="3072110"/>
            <a:ext cx="165100" cy="165100"/>
          </a:xfrm>
          <a:prstGeom prst="roundRect">
            <a:avLst>
              <a:gd name="adj" fmla="val 11538"/>
            </a:avLst>
          </a:prstGeom>
          <a:solidFill>
            <a:srgbClr val="1A2F52"/>
          </a:solidFill>
          <a:ln w="12700">
            <a:solidFill>
              <a:srgbClr val="5B8DEE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10688489" y="3048000"/>
            <a:ext cx="656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Dividing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10440839" y="3387030"/>
            <a:ext cx="165100" cy="165100"/>
          </a:xfrm>
          <a:prstGeom prst="roundRect">
            <a:avLst>
              <a:gd name="adj" fmla="val 11538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10688489" y="3362920"/>
            <a:ext cx="8288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3F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PHASE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96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Phase — Two Pointers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103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Merging sorted sub-arrays [-5, 9] and [-2, -1] into one sorted result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87811"/>
            <a:ext cx="36277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Left sub-array (i)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325" y="2404666"/>
            <a:ext cx="920750" cy="488950"/>
          </a:xfrm>
          <a:prstGeom prst="roundRect">
            <a:avLst>
              <a:gd name="adj" fmla="val 11039"/>
            </a:avLst>
          </a:prstGeom>
          <a:solidFill>
            <a:srgbClr val="EBF0FF"/>
          </a:solidFill>
          <a:ln w="19050">
            <a:solidFill>
              <a:srgbClr val="5B8DE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09750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5CDE8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2979341"/>
            <a:ext cx="3627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i=0 ↑ comparing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4917" y="2087811"/>
            <a:ext cx="36278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Right sub-array (j)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4442" y="2404666"/>
            <a:ext cx="920750" cy="488950"/>
          </a:xfrm>
          <a:prstGeom prst="roundRect">
            <a:avLst>
              <a:gd name="adj" fmla="val 11039"/>
            </a:avLst>
          </a:prstGeom>
          <a:solidFill>
            <a:srgbClr val="FFF0E4"/>
          </a:solidFill>
          <a:ln w="19050">
            <a:solidFill>
              <a:srgbClr val="F5944E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31867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5CDE8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34917" y="2979341"/>
            <a:ext cx="36278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j=0 ↑ comparing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57083" y="2087811"/>
            <a:ext cx="36277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Merged result (temp)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433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54033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844633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835233" y="2401491"/>
            <a:ext cx="927100" cy="495300"/>
          </a:xfrm>
          <a:prstGeom prst="roundRect">
            <a:avLst>
              <a:gd name="adj" fmla="val 1153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57083" y="2979341"/>
            <a:ext cx="3627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Fully merged 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424436"/>
            <a:ext cx="10560050" cy="2012752"/>
          </a:xfrm>
          <a:prstGeom prst="roundRect">
            <a:avLst>
              <a:gd name="adj" fmla="val 3628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150" y="3427611"/>
            <a:ext cx="10553700" cy="416520"/>
          </a:xfrm>
          <a:custGeom>
            <a:avLst/>
            <a:gdLst/>
            <a:ahLst/>
            <a:cxnLst/>
            <a:rect l="l" t="t" r="r" b="b"/>
            <a:pathLst>
              <a:path w="10553700" h="416520">
                <a:moveTo>
                  <a:pt x="0" y="69850"/>
                </a:moveTo>
                <a:arcTo hR="69850" wR="69850" stAng="10800000" swAng="5400000"/>
                <a:lnTo>
                  <a:pt x="10483850" y="0"/>
                </a:lnTo>
                <a:arcTo hR="69850" wR="69850" stAng="16200000" swAng="5400000"/>
                <a:lnTo>
                  <a:pt x="10553700" y="416520"/>
                </a:lnTo>
                <a:lnTo>
                  <a:pt x="0" y="416520"/>
                </a:lnTo>
                <a:close/>
              </a:path>
            </a:pathLst>
          </a:custGeom>
          <a:solidFill>
            <a:srgbClr val="1A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" y="3529211"/>
            <a:ext cx="1087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13533" y="3529211"/>
            <a:ext cx="2136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2650" y="3529211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08950" y="3529211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buffer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150" y="3847306"/>
            <a:ext cx="1055370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1550" y="3939381"/>
            <a:ext cx="1087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13533" y="3939381"/>
            <a:ext cx="2136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 vs -2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92650" y="3939381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-5 &lt; -2, take -5, i++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08950" y="3939381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[-5]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9150" y="4241602"/>
            <a:ext cx="10553700" cy="39747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150" y="4244777"/>
            <a:ext cx="1055370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1550" y="4336852"/>
            <a:ext cx="1087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13533" y="4336852"/>
            <a:ext cx="2136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 vs -2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92650" y="433685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-2 &lt; 9, take -2, j++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08950" y="433685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[-5, -2]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9150" y="4642247"/>
            <a:ext cx="1055370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1550" y="4734322"/>
            <a:ext cx="1087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13533" y="4734322"/>
            <a:ext cx="2136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 vs -1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692650" y="473432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-1 &lt; 9, take -1, j++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108950" y="473432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[-5, -2, -1]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9150" y="5036542"/>
            <a:ext cx="10553700" cy="397470"/>
          </a:xfrm>
          <a:custGeom>
            <a:avLst/>
            <a:gdLst/>
            <a:ahLst/>
            <a:cxnLst/>
            <a:rect l="l" t="t" r="r" b="b"/>
            <a:pathLst>
              <a:path w="10553700" h="397470">
                <a:moveTo>
                  <a:pt x="10553700" y="327620"/>
                </a:moveTo>
                <a:arcTo hR="69850" wR="69850" stAng="0" swAng="5400000"/>
                <a:lnTo>
                  <a:pt x="69850" y="397470"/>
                </a:lnTo>
                <a:arcTo hR="69850" wR="69850" stAng="5400000" swAng="5400000"/>
                <a:lnTo>
                  <a:pt x="0" y="0"/>
                </a:lnTo>
                <a:lnTo>
                  <a:pt x="10553700" y="0"/>
                </a:lnTo>
                <a:close/>
              </a:path>
            </a:pathLst>
          </a:custGeom>
          <a:solidFill>
            <a:srgbClr val="F8F9FF"/>
          </a:solidFill>
          <a:ln/>
        </p:spPr>
      </p:sp>
      <p:sp>
        <p:nvSpPr>
          <p:cNvPr id="42" name="Shape 40"/>
          <p:cNvSpPr/>
          <p:nvPr/>
        </p:nvSpPr>
        <p:spPr>
          <a:xfrm>
            <a:off x="819150" y="5036542"/>
            <a:ext cx="10553700" cy="397470"/>
          </a:xfrm>
          <a:custGeom>
            <a:avLst/>
            <a:gdLst/>
            <a:ahLst/>
            <a:cxnLst/>
            <a:rect l="l" t="t" r="r" b="b"/>
            <a:pathLst>
              <a:path w="10553700" h="397470">
                <a:moveTo>
                  <a:pt x="0" y="0"/>
                </a:moveTo>
                <a:lnTo>
                  <a:pt x="10553700" y="0"/>
                </a:lnTo>
                <a:lnTo>
                  <a:pt x="10553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0E4F0"/>
          </a:solidFill>
          <a:ln/>
        </p:spPr>
      </p:sp>
      <p:sp>
        <p:nvSpPr>
          <p:cNvPr id="43" name="Text 41"/>
          <p:cNvSpPr/>
          <p:nvPr/>
        </p:nvSpPr>
        <p:spPr>
          <a:xfrm>
            <a:off x="971550" y="5131792"/>
            <a:ext cx="10879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313533" y="5131792"/>
            <a:ext cx="2136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 exhausted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692650" y="513179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remaining 9, write back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08950" y="5131792"/>
            <a:ext cx="32048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[-5, -2, -1, 9]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72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IMPLEMENTATION · SLIDE 1 OF 2</a:t>
            </a:r>
            <a:endParaRPr lang="en-US" sz="72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90253"/>
            <a:ext cx="1088339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mergeSort() Function</a:t>
            </a:r>
            <a:endParaRPr lang="en-US" sz="2160" dirty="0"/>
          </a:p>
        </p:txBody>
      </p:sp>
      <p:sp>
        <p:nvSpPr>
          <p:cNvPr id="4" name="Text 2"/>
          <p:cNvSpPr/>
          <p:nvPr/>
        </p:nvSpPr>
        <p:spPr>
          <a:xfrm>
            <a:off x="812800" y="1298029"/>
            <a:ext cx="10883392" cy="158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6"/>
              </a:lnSpc>
              <a:buNone/>
            </a:pPr>
            <a:r>
              <a:rPr lang="en-US" sz="84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Recursive divide — splits the array and calls itself on both halves</a:t>
            </a:r>
            <a:endParaRPr lang="en-US" sz="840" dirty="0"/>
          </a:p>
        </p:txBody>
      </p:sp>
      <p:sp>
        <p:nvSpPr>
          <p:cNvPr id="5" name="Shape 3"/>
          <p:cNvSpPr/>
          <p:nvPr/>
        </p:nvSpPr>
        <p:spPr>
          <a:xfrm>
            <a:off x="815975" y="1662757"/>
            <a:ext cx="10560050" cy="3474740"/>
          </a:xfrm>
          <a:prstGeom prst="roundRect">
            <a:avLst>
              <a:gd name="adj" fmla="val 2467"/>
            </a:avLst>
          </a:prstGeom>
          <a:solidFill>
            <a:srgbClr val="060E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9350" y="1970732"/>
            <a:ext cx="10190099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Recursive divide function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9350" y="2151807"/>
            <a:ext cx="10190099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9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mergeSort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arr[], </a:t>
            </a: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temp[], </a:t>
            </a: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left, </a:t>
            </a: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right) 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79550" y="2332831"/>
            <a:ext cx="984999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(left &lt; right) {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9750" y="2513905"/>
            <a:ext cx="9509887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Find midpoint to split evenly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09750" y="2694930"/>
            <a:ext cx="950988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mid = (left + right) / </a:t>
            </a:r>
            <a:r>
              <a:rPr lang="en-US" sz="9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09750" y="3057029"/>
            <a:ext cx="950988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Recurse on left half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09750" y="3238103"/>
            <a:ext cx="9509887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mergeSort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(arr, temp, left, mid);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09750" y="3600202"/>
            <a:ext cx="9509887" cy="1683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Recurse on right half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09750" y="3781227"/>
            <a:ext cx="950988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mergeSort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(arr, temp, mid + </a:t>
            </a:r>
            <a:r>
              <a:rPr lang="en-US" sz="9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right);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09750" y="4143325"/>
            <a:ext cx="950988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Merge both sorted halves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09750" y="4324400"/>
            <a:ext cx="9509887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</a:t>
            </a: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(arr, temp, left, mid, right);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79550" y="4505474"/>
            <a:ext cx="984999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9350" y="4686548"/>
            <a:ext cx="10190099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2800" y="5369272"/>
            <a:ext cx="5207000" cy="472728"/>
          </a:xfrm>
          <a:prstGeom prst="roundRect">
            <a:avLst>
              <a:gd name="adj" fmla="val 10746"/>
            </a:avLst>
          </a:prstGeom>
          <a:solidFill>
            <a:srgbClr val="142038"/>
          </a:solidFill>
          <a:ln/>
        </p:spPr>
        <p:txBody>
          <a:bodyPr wrap="square" lIns="188321" tIns="137521" rIns="18141" bIns="112121" rtlCol="0" anchor="t">
            <a:normAutofit/>
          </a:bodyPr>
          <a:lstStyle/>
          <a:p>
            <a:pPr algn="l" indent="0" marL="0">
              <a:lnSpc>
                <a:spcPts val="1322"/>
              </a:lnSpc>
              <a:buNone/>
            </a:pPr>
            <a:r>
              <a:rPr lang="en-US" sz="882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case:</a:t>
            </a:r>
            <a:r>
              <a:rPr lang="en-US" sz="882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When left &gt;= right, the sub-array has ≤1 element — return without doing anything.</a:t>
            </a:r>
            <a:endParaRPr lang="en-US" sz="882" dirty="0"/>
          </a:p>
        </p:txBody>
      </p:sp>
      <p:sp>
        <p:nvSpPr>
          <p:cNvPr id="20" name="Shape 18"/>
          <p:cNvSpPr/>
          <p:nvPr/>
        </p:nvSpPr>
        <p:spPr>
          <a:xfrm>
            <a:off x="812800" y="5369272"/>
            <a:ext cx="5207000" cy="472728"/>
          </a:xfrm>
          <a:custGeom>
            <a:avLst/>
            <a:gdLst/>
            <a:ahLst/>
            <a:cxnLst/>
            <a:rect l="l" t="t" r="r" b="b"/>
            <a:pathLst>
              <a:path w="5207000" h="472728">
                <a:moveTo>
                  <a:pt x="50800" y="472728"/>
                </a:moveTo>
                <a:lnTo>
                  <a:pt x="50800" y="47272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421928"/>
                </a:lnTo>
                <a:arcTo hR="50800" wR="25400" stAng="10800000" swAng="-5400000"/>
                <a:close/>
              </a:path>
            </a:pathLst>
          </a:custGeom>
          <a:solidFill>
            <a:srgbClr val="5B8DEE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5369272"/>
            <a:ext cx="5207000" cy="472728"/>
          </a:xfrm>
          <a:prstGeom prst="roundRect">
            <a:avLst>
              <a:gd name="adj" fmla="val 10746"/>
            </a:avLst>
          </a:prstGeom>
          <a:solidFill>
            <a:srgbClr val="142038"/>
          </a:solidFill>
          <a:ln/>
        </p:spPr>
        <p:txBody>
          <a:bodyPr wrap="square" lIns="188321" tIns="137521" rIns="18141" bIns="112121" rtlCol="0" anchor="t">
            <a:normAutofit/>
          </a:bodyPr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53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 buffer:</a:t>
            </a:r>
            <a:r>
              <a:rPr lang="en-US" sz="853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Passed from main() so it is allocated once — avoids repeated malloc/free in recursion.</a:t>
            </a:r>
            <a:endParaRPr lang="en-US" sz="853" dirty="0"/>
          </a:p>
        </p:txBody>
      </p:sp>
      <p:sp>
        <p:nvSpPr>
          <p:cNvPr id="22" name="Shape 20"/>
          <p:cNvSpPr/>
          <p:nvPr/>
        </p:nvSpPr>
        <p:spPr>
          <a:xfrm>
            <a:off x="6172200" y="5369272"/>
            <a:ext cx="5207000" cy="472728"/>
          </a:xfrm>
          <a:custGeom>
            <a:avLst/>
            <a:gdLst/>
            <a:ahLst/>
            <a:cxnLst/>
            <a:rect l="l" t="t" r="r" b="b"/>
            <a:pathLst>
              <a:path w="5207000" h="472728">
                <a:moveTo>
                  <a:pt x="50800" y="472728"/>
                </a:moveTo>
                <a:lnTo>
                  <a:pt x="50800" y="472728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421928"/>
                </a:lnTo>
                <a:arcTo hR="50800" wR="25400" stAng="10800000" swAng="-5400000"/>
                <a:close/>
              </a:path>
            </a:pathLst>
          </a:custGeom>
          <a:solidFill>
            <a:srgbClr val="F5944E"/>
          </a:solidFill>
          <a:ln/>
        </p:spPr>
      </p:sp>
      <p:sp>
        <p:nvSpPr>
          <p:cNvPr id="23" name="Text 21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3F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6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3"/>
              </a:lnSpc>
              <a:buNone/>
            </a:pPr>
            <a:r>
              <a:rPr lang="en-US" sz="802" b="1" spc="120" kern="0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IMPLEMENTATION · SLIDE 2 OF 2</a:t>
            </a:r>
            <a:endParaRPr lang="en-US" sz="802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14859"/>
            <a:ext cx="10883392" cy="322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4"/>
              </a:lnSpc>
              <a:buNone/>
            </a:pPr>
            <a:r>
              <a:rPr lang="en-US" sz="2374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merge() Function</a:t>
            </a:r>
            <a:endParaRPr lang="en-US" sz="2374" dirty="0"/>
          </a:p>
        </p:txBody>
      </p:sp>
      <p:sp>
        <p:nvSpPr>
          <p:cNvPr id="4" name="Text 2"/>
          <p:cNvSpPr/>
          <p:nvPr/>
        </p:nvSpPr>
        <p:spPr>
          <a:xfrm>
            <a:off x="812800" y="1375321"/>
            <a:ext cx="10883392" cy="187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Combines two adjacent sorted sub-arrays into one sorted result using two pointers</a:t>
            </a:r>
            <a:endParaRPr lang="en-US" sz="910" dirty="0"/>
          </a:p>
        </p:txBody>
      </p:sp>
      <p:sp>
        <p:nvSpPr>
          <p:cNvPr id="5" name="Shape 3"/>
          <p:cNvSpPr/>
          <p:nvPr/>
        </p:nvSpPr>
        <p:spPr>
          <a:xfrm>
            <a:off x="815975" y="1768723"/>
            <a:ext cx="10560050" cy="3153767"/>
          </a:xfrm>
          <a:prstGeom prst="roundRect">
            <a:avLst>
              <a:gd name="adj" fmla="val 2718"/>
            </a:avLst>
          </a:prstGeom>
          <a:solidFill>
            <a:srgbClr val="060E1A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9350" y="2025898"/>
            <a:ext cx="1019009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945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merge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arr[], </a:t>
            </a: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temp[], </a:t>
            </a: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left, </a:t>
            </a: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mid, </a:t>
            </a: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right) {</a:t>
            </a:r>
            <a:endParaRPr lang="en-US" sz="945" dirty="0"/>
          </a:p>
        </p:txBody>
      </p:sp>
      <p:sp>
        <p:nvSpPr>
          <p:cNvPr id="7" name="Text 5"/>
          <p:cNvSpPr/>
          <p:nvPr/>
        </p:nvSpPr>
        <p:spPr>
          <a:xfrm>
            <a:off x="1479550" y="2216249"/>
            <a:ext cx="9849993" cy="190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i = left, j = mid + </a:t>
            </a:r>
            <a:r>
              <a:rPr lang="en-US" sz="945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 k = left;</a:t>
            </a:r>
            <a:endParaRPr lang="en-US" sz="945" dirty="0"/>
          </a:p>
        </p:txBody>
      </p:sp>
      <p:sp>
        <p:nvSpPr>
          <p:cNvPr id="8" name="Text 6"/>
          <p:cNvSpPr/>
          <p:nvPr/>
        </p:nvSpPr>
        <p:spPr>
          <a:xfrm>
            <a:off x="1479550" y="2596902"/>
            <a:ext cx="9849993" cy="190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Compare and pick the smaller element</a:t>
            </a:r>
            <a:endParaRPr lang="en-US" sz="945" dirty="0"/>
          </a:p>
        </p:txBody>
      </p:sp>
      <p:sp>
        <p:nvSpPr>
          <p:cNvPr id="9" name="Text 7"/>
          <p:cNvSpPr/>
          <p:nvPr/>
        </p:nvSpPr>
        <p:spPr>
          <a:xfrm>
            <a:off x="1479550" y="2787204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(i &lt;= mid &amp;&amp; j &lt;= right) {</a:t>
            </a:r>
            <a:endParaRPr lang="en-US" sz="945" dirty="0"/>
          </a:p>
        </p:txBody>
      </p:sp>
      <p:sp>
        <p:nvSpPr>
          <p:cNvPr id="10" name="Text 8"/>
          <p:cNvSpPr/>
          <p:nvPr/>
        </p:nvSpPr>
        <p:spPr>
          <a:xfrm>
            <a:off x="1809750" y="2977555"/>
            <a:ext cx="950988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(arr[i] &lt;= arr[j]) temp[k++] = arr[i++];</a:t>
            </a:r>
            <a:endParaRPr lang="en-US" sz="945" dirty="0"/>
          </a:p>
        </p:txBody>
      </p:sp>
      <p:sp>
        <p:nvSpPr>
          <p:cNvPr id="11" name="Text 9"/>
          <p:cNvSpPr/>
          <p:nvPr/>
        </p:nvSpPr>
        <p:spPr>
          <a:xfrm>
            <a:off x="1809750" y="3167906"/>
            <a:ext cx="950988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temp[k++] = arr[j++];</a:t>
            </a:r>
            <a:endParaRPr lang="en-US" sz="945" dirty="0"/>
          </a:p>
        </p:txBody>
      </p:sp>
      <p:sp>
        <p:nvSpPr>
          <p:cNvPr id="12" name="Text 10"/>
          <p:cNvSpPr/>
          <p:nvPr/>
        </p:nvSpPr>
        <p:spPr>
          <a:xfrm>
            <a:off x="1479550" y="3358257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945" dirty="0"/>
          </a:p>
        </p:txBody>
      </p:sp>
      <p:sp>
        <p:nvSpPr>
          <p:cNvPr id="13" name="Text 11"/>
          <p:cNvSpPr/>
          <p:nvPr/>
        </p:nvSpPr>
        <p:spPr>
          <a:xfrm>
            <a:off x="1479550" y="3548608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Copy any remaining elements</a:t>
            </a:r>
            <a:endParaRPr lang="en-US" sz="945" dirty="0"/>
          </a:p>
        </p:txBody>
      </p:sp>
      <p:sp>
        <p:nvSpPr>
          <p:cNvPr id="14" name="Text 12"/>
          <p:cNvSpPr/>
          <p:nvPr/>
        </p:nvSpPr>
        <p:spPr>
          <a:xfrm>
            <a:off x="1479550" y="3738959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(i &lt;= mid) temp[k++] = arr[i++];</a:t>
            </a:r>
            <a:endParaRPr lang="en-US" sz="945" dirty="0"/>
          </a:p>
        </p:txBody>
      </p:sp>
      <p:sp>
        <p:nvSpPr>
          <p:cNvPr id="15" name="Text 13"/>
          <p:cNvSpPr/>
          <p:nvPr/>
        </p:nvSpPr>
        <p:spPr>
          <a:xfrm>
            <a:off x="1479550" y="3929311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(j &lt;= right) temp[k++] = arr[j++];</a:t>
            </a:r>
            <a:endParaRPr lang="en-US" sz="945" dirty="0"/>
          </a:p>
        </p:txBody>
      </p:sp>
      <p:sp>
        <p:nvSpPr>
          <p:cNvPr id="16" name="Text 14"/>
          <p:cNvSpPr/>
          <p:nvPr/>
        </p:nvSpPr>
        <p:spPr>
          <a:xfrm>
            <a:off x="1479550" y="4119662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5A709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Write sorted result back to original array</a:t>
            </a:r>
            <a:endParaRPr lang="en-US" sz="945" dirty="0"/>
          </a:p>
        </p:txBody>
      </p:sp>
      <p:sp>
        <p:nvSpPr>
          <p:cNvPr id="17" name="Text 15"/>
          <p:cNvSpPr/>
          <p:nvPr/>
        </p:nvSpPr>
        <p:spPr>
          <a:xfrm>
            <a:off x="1479550" y="4310013"/>
            <a:ext cx="984999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</a:t>
            </a: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(i = left; i &lt;= right; i++) arr[i] = temp[i];</a:t>
            </a:r>
            <a:endParaRPr lang="en-US" sz="945" dirty="0"/>
          </a:p>
        </p:txBody>
      </p:sp>
      <p:sp>
        <p:nvSpPr>
          <p:cNvPr id="18" name="Text 16"/>
          <p:cNvSpPr/>
          <p:nvPr/>
        </p:nvSpPr>
        <p:spPr>
          <a:xfrm>
            <a:off x="1149350" y="4500364"/>
            <a:ext cx="1019009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945" dirty="0"/>
          </a:p>
        </p:txBody>
      </p:sp>
      <p:sp>
        <p:nvSpPr>
          <p:cNvPr id="19" name="Text 17"/>
          <p:cNvSpPr/>
          <p:nvPr/>
        </p:nvSpPr>
        <p:spPr>
          <a:xfrm>
            <a:off x="812800" y="5154265"/>
            <a:ext cx="3420517" cy="687735"/>
          </a:xfrm>
          <a:prstGeom prst="roundRect">
            <a:avLst>
              <a:gd name="adj" fmla="val 7387"/>
            </a:avLst>
          </a:prstGeom>
          <a:solidFill>
            <a:srgbClr val="142038"/>
          </a:solidFill>
          <a:ln/>
        </p:spPr>
        <p:txBody>
          <a:bodyPr wrap="square" lIns="188321" tIns="124821" rIns="71736" bIns="99421" rtlCol="0" anchor="t">
            <a:normAutofit/>
          </a:bodyPr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969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Stability:</a:t>
            </a:r>
            <a:r>
              <a:rPr lang="en-US" sz="969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Using &lt;= ensures equal elements from the left sub-array are placed first, preserving original order.</a:t>
            </a:r>
            <a:endParaRPr lang="en-US" sz="969" dirty="0"/>
          </a:p>
        </p:txBody>
      </p:sp>
      <p:sp>
        <p:nvSpPr>
          <p:cNvPr id="20" name="Shape 18"/>
          <p:cNvSpPr/>
          <p:nvPr/>
        </p:nvSpPr>
        <p:spPr>
          <a:xfrm>
            <a:off x="812800" y="5154265"/>
            <a:ext cx="3420517" cy="687735"/>
          </a:xfrm>
          <a:custGeom>
            <a:avLst/>
            <a:gdLst/>
            <a:ahLst/>
            <a:cxnLst/>
            <a:rect l="l" t="t" r="r" b="b"/>
            <a:pathLst>
              <a:path w="3420517" h="687735">
                <a:moveTo>
                  <a:pt x="50800" y="687735"/>
                </a:moveTo>
                <a:lnTo>
                  <a:pt x="50800" y="68773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636935"/>
                </a:lnTo>
                <a:arcTo hR="50800" wR="25400" stAng="10800000" swAng="-5400000"/>
                <a:close/>
              </a:path>
            </a:pathLst>
          </a:custGeom>
          <a:solidFill>
            <a:srgbClr val="34D58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5717" y="5154265"/>
            <a:ext cx="3420566" cy="687735"/>
          </a:xfrm>
          <a:prstGeom prst="roundRect">
            <a:avLst>
              <a:gd name="adj" fmla="val 7387"/>
            </a:avLst>
          </a:prstGeom>
          <a:solidFill>
            <a:srgbClr val="142038"/>
          </a:solidFill>
          <a:ln/>
        </p:spPr>
        <p:txBody>
          <a:bodyPr wrap="square" lIns="188321" tIns="124821" rIns="71734" bIns="99421" rtlCol="0" anchor="t">
            <a:normAutofit/>
          </a:bodyPr>
          <a:lstStyle/>
          <a:p>
            <a:pPr algn="l" indent="0" marL="0">
              <a:lnSpc>
                <a:spcPts val="1477"/>
              </a:lnSpc>
              <a:buNone/>
            </a:pPr>
            <a:r>
              <a:rPr lang="en-US" sz="984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Write-back:</a:t>
            </a:r>
            <a:r>
              <a:rPr lang="en-US" sz="984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for-loop at the end copies from temp[] back into arr[], completing the in-place update.</a:t>
            </a:r>
            <a:endParaRPr lang="en-US" sz="984" dirty="0"/>
          </a:p>
        </p:txBody>
      </p:sp>
      <p:sp>
        <p:nvSpPr>
          <p:cNvPr id="22" name="Shape 20"/>
          <p:cNvSpPr/>
          <p:nvPr/>
        </p:nvSpPr>
        <p:spPr>
          <a:xfrm>
            <a:off x="4385717" y="5154265"/>
            <a:ext cx="3420566" cy="687735"/>
          </a:xfrm>
          <a:custGeom>
            <a:avLst/>
            <a:gdLst/>
            <a:ahLst/>
            <a:cxnLst/>
            <a:rect l="l" t="t" r="r" b="b"/>
            <a:pathLst>
              <a:path w="3420566" h="687735">
                <a:moveTo>
                  <a:pt x="50800" y="687735"/>
                </a:moveTo>
                <a:lnTo>
                  <a:pt x="50800" y="68773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636935"/>
                </a:lnTo>
                <a:arcTo hR="50800" wR="25400" stAng="10800000" swAng="-5400000"/>
                <a:close/>
              </a:path>
            </a:pathLst>
          </a:custGeom>
          <a:solidFill>
            <a:srgbClr val="F5944E"/>
          </a:solidFill>
          <a:ln/>
        </p:spPr>
      </p:sp>
      <p:sp>
        <p:nvSpPr>
          <p:cNvPr id="23" name="Text 21"/>
          <p:cNvSpPr/>
          <p:nvPr/>
        </p:nvSpPr>
        <p:spPr>
          <a:xfrm>
            <a:off x="7958683" y="5154265"/>
            <a:ext cx="3420517" cy="687735"/>
          </a:xfrm>
          <a:prstGeom prst="roundRect">
            <a:avLst>
              <a:gd name="adj" fmla="val 7387"/>
            </a:avLst>
          </a:prstGeom>
          <a:solidFill>
            <a:srgbClr val="142038"/>
          </a:solidFill>
          <a:ln/>
        </p:spPr>
        <p:txBody>
          <a:bodyPr wrap="square" lIns="188321" tIns="124821" rIns="71736" bIns="99421" rtlCol="0" anchor="t">
            <a:normAutofit/>
          </a:bodyPr>
          <a:lstStyle/>
          <a:p>
            <a:pPr algn="l" indent="0" marL="0">
              <a:lnSpc>
                <a:spcPts val="1494"/>
              </a:lnSpc>
              <a:buNone/>
            </a:pPr>
            <a:r>
              <a:rPr lang="en-US" sz="996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Cost:</a:t>
            </a:r>
            <a:r>
              <a:rPr lang="en-US" sz="996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Each merge step touches every element once — O(n) work per level, O(log n) levels = O(n log n) total.</a:t>
            </a:r>
            <a:endParaRPr lang="en-US" sz="996" dirty="0"/>
          </a:p>
        </p:txBody>
      </p:sp>
      <p:sp>
        <p:nvSpPr>
          <p:cNvPr id="24" name="Shape 22"/>
          <p:cNvSpPr/>
          <p:nvPr/>
        </p:nvSpPr>
        <p:spPr>
          <a:xfrm>
            <a:off x="7958683" y="5154265"/>
            <a:ext cx="3420517" cy="687735"/>
          </a:xfrm>
          <a:custGeom>
            <a:avLst/>
            <a:gdLst/>
            <a:ahLst/>
            <a:cxnLst/>
            <a:rect l="l" t="t" r="r" b="b"/>
            <a:pathLst>
              <a:path w="3420517" h="687735">
                <a:moveTo>
                  <a:pt x="50800" y="687735"/>
                </a:moveTo>
                <a:lnTo>
                  <a:pt x="50800" y="687735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arcTo hR="50800" wR="25400" stAng="16200000" swAng="-5400000"/>
                <a:lnTo>
                  <a:pt x="25400" y="636935"/>
                </a:lnTo>
                <a:arcTo hR="50800" wR="25400" stAng="10800000" swAng="-5400000"/>
                <a:close/>
              </a:path>
            </a:pathLst>
          </a:custGeom>
          <a:solidFill>
            <a:srgbClr val="5B8DEE"/>
          </a:solidFill>
          <a:ln/>
        </p:spPr>
      </p:sp>
      <p:sp>
        <p:nvSpPr>
          <p:cNvPr id="25" name="Text 23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A3F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1236"/>
            <a:ext cx="10883392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465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&amp; Space Complexity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812800" y="1799878"/>
            <a:ext cx="6722517" cy="2672655"/>
          </a:xfrm>
          <a:prstGeom prst="roundRect">
            <a:avLst>
              <a:gd name="adj" fmla="val 3801"/>
            </a:avLst>
          </a:prstGeom>
          <a:solidFill>
            <a:srgbClr val="0B1628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079278"/>
            <a:ext cx="6348628" cy="24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spc="105" kern="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COMPLEXITY</a:t>
            </a:r>
            <a:endParaRPr lang="en-US" sz="1231" dirty="0"/>
          </a:p>
        </p:txBody>
      </p:sp>
      <p:sp>
        <p:nvSpPr>
          <p:cNvPr id="6" name="Text 4"/>
          <p:cNvSpPr/>
          <p:nvPr/>
        </p:nvSpPr>
        <p:spPr>
          <a:xfrm>
            <a:off x="1092200" y="2399903"/>
            <a:ext cx="6348628" cy="506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813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3813" dirty="0"/>
          </a:p>
        </p:txBody>
      </p:sp>
      <p:sp>
        <p:nvSpPr>
          <p:cNvPr id="7" name="Text 5"/>
          <p:cNvSpPr/>
          <p:nvPr/>
        </p:nvSpPr>
        <p:spPr>
          <a:xfrm>
            <a:off x="1092200" y="2983012"/>
            <a:ext cx="6348628" cy="24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· Average · Worst — always the same</a:t>
            </a:r>
            <a:endParaRPr lang="en-US" sz="1231" dirty="0"/>
          </a:p>
        </p:txBody>
      </p:sp>
      <p:sp>
        <p:nvSpPr>
          <p:cNvPr id="8" name="Shape 6"/>
          <p:cNvSpPr/>
          <p:nvPr/>
        </p:nvSpPr>
        <p:spPr>
          <a:xfrm>
            <a:off x="1092200" y="3306812"/>
            <a:ext cx="6163717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2200" y="3386187"/>
            <a:ext cx="794087" cy="222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case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58637" y="3386187"/>
            <a:ext cx="1097280" cy="222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Θ(n log 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92200" y="3637211"/>
            <a:ext cx="6163717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2200" y="3691186"/>
            <a:ext cx="1084719" cy="22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Average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8637" y="3691186"/>
            <a:ext cx="1097280" cy="22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Θ(n log 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2200" y="3942159"/>
            <a:ext cx="6163717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2200" y="3996134"/>
            <a:ext cx="903982" cy="22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Worst case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58637" y="3996134"/>
            <a:ext cx="1097280" cy="22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Θ(n log 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38517" y="1799878"/>
            <a:ext cx="3640683" cy="2672655"/>
          </a:xfrm>
          <a:prstGeom prst="roundRect">
            <a:avLst>
              <a:gd name="adj" fmla="val 3801"/>
            </a:avLst>
          </a:prstGeom>
          <a:solidFill>
            <a:srgbClr val="0B1628"/>
          </a:solidFill>
          <a:ln/>
        </p:spPr>
      </p:sp>
      <p:sp>
        <p:nvSpPr>
          <p:cNvPr id="18" name="Text 16"/>
          <p:cNvSpPr/>
          <p:nvPr/>
        </p:nvSpPr>
        <p:spPr>
          <a:xfrm>
            <a:off x="8017917" y="2079278"/>
            <a:ext cx="3174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5" kern="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 COMPLEXITY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17917" y="2412008"/>
            <a:ext cx="31743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017917" y="3021608"/>
            <a:ext cx="3174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Auxiliary temp buffer of size 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17917" y="3354338"/>
            <a:ext cx="31743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70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 in-place — requires additional memory proportional to the input size.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5975" y="4755108"/>
            <a:ext cx="10560050" cy="1083717"/>
          </a:xfrm>
          <a:prstGeom prst="roundRect">
            <a:avLst>
              <a:gd name="adj" fmla="val 6738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3150" y="4949031"/>
            <a:ext cx="395567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5" kern="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RECURRENCE RELATION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3150" y="5218261"/>
            <a:ext cx="4608552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204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T(n) = 2T(n/2) + O(n)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702824" y="5029002"/>
            <a:ext cx="2670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Solved by Master Theorem (Case 2)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62678" y="5280422"/>
            <a:ext cx="175617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O(n log 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WORKED EXAMPLE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0591"/>
            <a:ext cx="10883392" cy="46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465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Trace: [9, -5, 7, -2, -1]</a:t>
            </a:r>
            <a:endParaRPr lang="en-US" sz="3465" dirty="0"/>
          </a:p>
        </p:txBody>
      </p:sp>
      <p:sp>
        <p:nvSpPr>
          <p:cNvPr id="4" name="Shape 2"/>
          <p:cNvSpPr/>
          <p:nvPr/>
        </p:nvSpPr>
        <p:spPr>
          <a:xfrm>
            <a:off x="815975" y="1750268"/>
            <a:ext cx="10560050" cy="609253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957090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17700" y="1873300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03810" y="1873300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96580" y="1873300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76339" y="1930450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83942" y="1873300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76712" y="1873300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63132" y="1948210"/>
            <a:ext cx="17560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split at mid=2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2442071"/>
            <a:ext cx="10560050" cy="609253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950" y="2648893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17700" y="2565102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03810" y="2565102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BF0FF"/>
          </a:solidFill>
          <a:ln w="12700">
            <a:solidFill>
              <a:srgbClr val="5B8DE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90230" y="2622252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97832" y="2565102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77592" y="2622252"/>
            <a:ext cx="1242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8214" y="2565102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94634" y="2622252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02236" y="2565102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8656" y="2640013"/>
            <a:ext cx="2633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7,-2,-1 are base 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133874"/>
            <a:ext cx="10560050" cy="609253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950" y="3340695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17700" y="3256905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03810" y="3256905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90230" y="3314055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97832" y="3256905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77592" y="3314055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5195" y="3256905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71615" y="3314055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79218" y="3256905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E4FFF4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465638" y="3331815"/>
            <a:ext cx="23046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all single elements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825677"/>
            <a:ext cx="10560050" cy="609253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950" y="4032498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17700" y="3948708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10470" y="3948708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790230" y="4005858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897832" y="3948708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277592" y="4005858"/>
            <a:ext cx="12427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‖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408214" y="3948708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00984" y="3948708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387404" y="4023618"/>
            <a:ext cx="28532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merge [9,-5] and [-2,-1]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15975" y="4517479"/>
            <a:ext cx="10560050" cy="609253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 w="6350">
            <a:solidFill>
              <a:srgbClr val="C5C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6950" y="4724301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17700" y="4640511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410470" y="4640511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796580" y="4640511"/>
            <a:ext cx="322610" cy="363190"/>
          </a:xfrm>
          <a:prstGeom prst="roundRect">
            <a:avLst>
              <a:gd name="adj" fmla="val 13778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176339" y="4697661"/>
            <a:ext cx="10125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CD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283942" y="4640511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776712" y="4640511"/>
            <a:ext cx="429270" cy="363190"/>
          </a:xfrm>
          <a:prstGeom prst="roundRect">
            <a:avLst>
              <a:gd name="adj" fmla="val 12239"/>
            </a:avLst>
          </a:prstGeom>
          <a:solidFill>
            <a:srgbClr val="FFF0E4"/>
          </a:solidFill>
          <a:ln w="12700">
            <a:solidFill>
              <a:srgbClr val="F5944E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263132" y="4715421"/>
            <a:ext cx="31824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merge [-5,7,9] with [-2,-1]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12800" y="5206107"/>
            <a:ext cx="10566400" cy="635893"/>
          </a:xfrm>
          <a:prstGeom prst="roundRect">
            <a:avLst>
              <a:gd name="adj" fmla="val 9986"/>
            </a:avLst>
          </a:prstGeom>
          <a:solidFill>
            <a:srgbClr val="0B1628"/>
          </a:solidFill>
          <a:ln/>
        </p:spPr>
      </p:sp>
      <p:sp>
        <p:nvSpPr>
          <p:cNvPr id="55" name="Text 53"/>
          <p:cNvSpPr/>
          <p:nvPr/>
        </p:nvSpPr>
        <p:spPr>
          <a:xfrm>
            <a:off x="990600" y="5426273"/>
            <a:ext cx="812800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SORTED!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911350" y="5324673"/>
            <a:ext cx="459780" cy="398760"/>
          </a:xfrm>
          <a:prstGeom prst="roundRect">
            <a:avLst>
              <a:gd name="adj" fmla="val 11147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2434630" y="5324673"/>
            <a:ext cx="459780" cy="398760"/>
          </a:xfrm>
          <a:prstGeom prst="roundRect">
            <a:avLst>
              <a:gd name="adj" fmla="val 11147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2957909" y="5324673"/>
            <a:ext cx="459780" cy="398760"/>
          </a:xfrm>
          <a:prstGeom prst="roundRect">
            <a:avLst>
              <a:gd name="adj" fmla="val 11147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481189" y="5324673"/>
            <a:ext cx="337840" cy="398760"/>
          </a:xfrm>
          <a:prstGeom prst="roundRect">
            <a:avLst>
              <a:gd name="adj" fmla="val 13157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882529" y="5324673"/>
            <a:ext cx="337840" cy="398760"/>
          </a:xfrm>
          <a:prstGeom prst="roundRect">
            <a:avLst>
              <a:gd name="adj" fmla="val 13157"/>
            </a:avLst>
          </a:prstGeom>
          <a:solidFill>
            <a:srgbClr val="1A3A28"/>
          </a:solidFill>
          <a:ln w="12700">
            <a:solidFill>
              <a:srgbClr val="34D58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8962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i="0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vs Other Algorithms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03995"/>
            <a:ext cx="10560050" cy="2423120"/>
          </a:xfrm>
          <a:prstGeom prst="roundRect">
            <a:avLst>
              <a:gd name="adj" fmla="val 3538"/>
            </a:avLst>
          </a:prstGeom>
          <a:noFill/>
          <a:ln w="6350">
            <a:solidFill>
              <a:srgbClr val="C5C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07170"/>
            <a:ext cx="10553700" cy="485130"/>
          </a:xfrm>
          <a:custGeom>
            <a:avLst/>
            <a:gdLst/>
            <a:ahLst/>
            <a:cxnLst/>
            <a:rect l="l" t="t" r="r" b="b"/>
            <a:pathLst>
              <a:path w="10553700" h="485130">
                <a:moveTo>
                  <a:pt x="0" y="82550"/>
                </a:moveTo>
                <a:arcTo hR="82550" wR="82550" stAng="10800000" swAng="5400000"/>
                <a:lnTo>
                  <a:pt x="10471150" y="0"/>
                </a:lnTo>
                <a:arcTo hR="82550" wR="82550" stAng="16200000" swAng="5400000"/>
                <a:lnTo>
                  <a:pt x="10553700" y="485130"/>
                </a:lnTo>
                <a:lnTo>
                  <a:pt x="0" y="485130"/>
                </a:lnTo>
                <a:close/>
              </a:path>
            </a:pathLst>
          </a:custGeom>
          <a:solidFill>
            <a:srgbClr val="0B1628"/>
          </a:solidFill>
          <a:ln/>
        </p:spPr>
      </p:sp>
      <p:sp>
        <p:nvSpPr>
          <p:cNvPr id="6" name="Text 4"/>
          <p:cNvSpPr/>
          <p:nvPr/>
        </p:nvSpPr>
        <p:spPr>
          <a:xfrm>
            <a:off x="996950" y="1934170"/>
            <a:ext cx="173479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36540" y="1934170"/>
            <a:ext cx="17348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Best Case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6180" y="1934170"/>
            <a:ext cx="173479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Worst Case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15770" y="1934170"/>
            <a:ext cx="892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13390" y="1934170"/>
            <a:ext cx="8928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11010" y="1934170"/>
            <a:ext cx="17348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150" y="2292300"/>
            <a:ext cx="10553700" cy="533400"/>
          </a:xfrm>
          <a:prstGeom prst="rect">
            <a:avLst/>
          </a:prstGeom>
          <a:solidFill>
            <a:srgbClr val="1A2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819150" y="2298650"/>
            <a:ext cx="10553700" cy="0"/>
          </a:xfrm>
          <a:prstGeom prst="line">
            <a:avLst/>
          </a:prstGeom>
          <a:noFill/>
          <a:ln w="12700">
            <a:solidFill>
              <a:srgbClr val="5B8D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150" y="2819350"/>
            <a:ext cx="10553700" cy="0"/>
          </a:xfrm>
          <a:prstGeom prst="line">
            <a:avLst/>
          </a:prstGeom>
          <a:noFill/>
          <a:ln w="12700">
            <a:solidFill>
              <a:srgbClr val="5B8D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6950" y="2432000"/>
            <a:ext cx="50800" cy="254000"/>
          </a:xfrm>
          <a:prstGeom prst="roundRect">
            <a:avLst>
              <a:gd name="adj" fmla="val 50000"/>
            </a:avLst>
          </a:prstGeom>
          <a:solidFill>
            <a:srgbClr val="5B8DEE"/>
          </a:solidFill>
          <a:ln/>
        </p:spPr>
      </p:sp>
      <p:sp>
        <p:nvSpPr>
          <p:cNvPr id="16" name="Text 14"/>
          <p:cNvSpPr/>
          <p:nvPr/>
        </p:nvSpPr>
        <p:spPr>
          <a:xfrm>
            <a:off x="1123950" y="2443411"/>
            <a:ext cx="100923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36540" y="2443411"/>
            <a:ext cx="11887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Θ(n log 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6180" y="2443411"/>
            <a:ext cx="11887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Θ(n log 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5770" y="2443411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13390" y="2443411"/>
            <a:ext cx="5568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Yes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11010" y="2452340"/>
            <a:ext cx="14211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&amp; Conquer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9150" y="2825700"/>
            <a:ext cx="10553700" cy="466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19150" y="2828875"/>
            <a:ext cx="1055370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950" y="2946350"/>
            <a:ext cx="10863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Bubble Sort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36540" y="2946350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6180" y="2946350"/>
            <a:ext cx="5943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050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O(n²)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5770" y="2946350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O(1)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13390" y="2946350"/>
            <a:ext cx="5568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Yes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511010" y="2955230"/>
            <a:ext cx="15497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Comparison swaps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9150" y="3291780"/>
            <a:ext cx="10553700" cy="466080"/>
          </a:xfrm>
          <a:prstGeom prst="rect">
            <a:avLst/>
          </a:prstGeom>
          <a:solidFill>
            <a:srgbClr val="F8F9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9150" y="3294955"/>
            <a:ext cx="1055370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950" y="3412430"/>
            <a:ext cx="95720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Sort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36540" y="3412430"/>
            <a:ext cx="11887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76180" y="3412430"/>
            <a:ext cx="5943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050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O(n²)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15770" y="3412430"/>
            <a:ext cx="951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O(log n)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13390" y="3412430"/>
            <a:ext cx="4658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050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No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11010" y="3421311"/>
            <a:ext cx="1152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Pivot partition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9150" y="3757861"/>
            <a:ext cx="10553700" cy="466080"/>
          </a:xfrm>
          <a:custGeom>
            <a:avLst/>
            <a:gdLst/>
            <a:ahLst/>
            <a:cxnLst/>
            <a:rect l="l" t="t" r="r" b="b"/>
            <a:pathLst>
              <a:path w="10553700" h="466080">
                <a:moveTo>
                  <a:pt x="10553700" y="383530"/>
                </a:moveTo>
                <a:arcTo hR="82550" wR="82550" stAng="0" swAng="5400000"/>
                <a:lnTo>
                  <a:pt x="82550" y="466080"/>
                </a:lnTo>
                <a:arcTo hR="82550" wR="82550" stAng="5400000" swAng="5400000"/>
                <a:lnTo>
                  <a:pt x="0" y="0"/>
                </a:lnTo>
                <a:lnTo>
                  <a:pt x="105537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19150" y="3757861"/>
            <a:ext cx="10553700" cy="466080"/>
          </a:xfrm>
          <a:custGeom>
            <a:avLst/>
            <a:gdLst/>
            <a:ahLst/>
            <a:cxnLst/>
            <a:rect l="l" t="t" r="r" b="b"/>
            <a:pathLst>
              <a:path w="10553700" h="466080">
                <a:moveTo>
                  <a:pt x="0" y="0"/>
                </a:moveTo>
                <a:lnTo>
                  <a:pt x="10553700" y="0"/>
                </a:lnTo>
                <a:lnTo>
                  <a:pt x="105537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E0E4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950" y="3878511"/>
            <a:ext cx="127688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A20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Insertion Sort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036540" y="3878511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76180" y="3878511"/>
            <a:ext cx="5943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0505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O(n²)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15770" y="3878511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4D58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O(1)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313390" y="3878511"/>
            <a:ext cx="5568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Yes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511010" y="3887391"/>
            <a:ext cx="13461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8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In-place shifting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12800" y="4484291"/>
            <a:ext cx="10566400" cy="889000"/>
          </a:xfrm>
          <a:prstGeom prst="roundRect">
            <a:avLst>
              <a:gd name="adj" fmla="val 8571"/>
            </a:avLst>
          </a:prstGeom>
          <a:solidFill>
            <a:srgbClr val="0B1628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1400" y="4750991"/>
            <a:ext cx="38100" cy="355600"/>
          </a:xfrm>
          <a:prstGeom prst="roundRect">
            <a:avLst>
              <a:gd name="adj" fmla="val 50000"/>
            </a:avLst>
          </a:prstGeom>
          <a:solidFill>
            <a:srgbClr val="5B8DEE"/>
          </a:solidFill>
          <a:ln/>
        </p:spPr>
      </p:sp>
      <p:sp>
        <p:nvSpPr>
          <p:cNvPr id="48" name="Text 46"/>
          <p:cNvSpPr/>
          <p:nvPr/>
        </p:nvSpPr>
        <p:spPr>
          <a:xfrm>
            <a:off x="1231900" y="4662091"/>
            <a:ext cx="102162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advantage:</a:t>
            </a:r>
            <a:r>
              <a:rPr lang="en-US" sz="1400" dirty="0">
                <a:solidFill>
                  <a:srgbClr val="C5D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Merge Sort is the only algorithm here that guarantees O(n log n) in ALL cases — making it the reliable choice for large, unpredictable data sets.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12800" y="6238280"/>
            <a:ext cx="25416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A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 Sort — Divide &amp; Conquer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20" kern="0" dirty="0">
                <a:solidFill>
                  <a:srgbClr val="5B8D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i="0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042120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5B8D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95400" y="2042120"/>
            <a:ext cx="5907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Divide &amp; Conquer at its core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5400" y="2329111"/>
            <a:ext cx="5907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Split the array in half recursively until single elements remain, then merge sorted halves back 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913311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34D5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16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5400" y="2913311"/>
            <a:ext cx="5907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Guaranteed O(n log 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5400" y="3200301"/>
            <a:ext cx="5907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Unlike Quick Sort, performance never degrades to O(n²) — best, average, and worst cases are identical.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3784501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F5944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5400" y="3784501"/>
            <a:ext cx="5907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 but not in-place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95400" y="4071491"/>
            <a:ext cx="5907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Equal elements maintain their original order (stable). Requires O(n) extra temp buffer memory.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4655691"/>
            <a:ext cx="355600" cy="355600"/>
          </a:xfrm>
          <a:prstGeom prst="roundRect">
            <a:avLst>
              <a:gd name="adj" fmla="val 21429"/>
            </a:avLst>
          </a:prstGeom>
          <a:solidFill>
            <a:srgbClr val="A374F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95400" y="4655691"/>
            <a:ext cx="5907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 implementation tip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5400" y="4942681"/>
            <a:ext cx="5907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Allocate temp buffer once in main() — not inside the recursive function — to avoid repeated malloc/free overhead.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33940" y="2042120"/>
            <a:ext cx="4145260" cy="2172891"/>
          </a:xfrm>
          <a:prstGeom prst="roundRect">
            <a:avLst>
              <a:gd name="adj" fmla="val 4091"/>
            </a:avLst>
          </a:prstGeom>
          <a:solidFill>
            <a:srgbClr val="142038"/>
          </a:solidFill>
          <a:ln/>
        </p:spPr>
      </p:sp>
      <p:sp>
        <p:nvSpPr>
          <p:cNvPr id="17" name="Text 15"/>
          <p:cNvSpPr/>
          <p:nvPr/>
        </p:nvSpPr>
        <p:spPr>
          <a:xfrm>
            <a:off x="7462540" y="2270720"/>
            <a:ext cx="3798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5A70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62540" y="2896146"/>
            <a:ext cx="368806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2540" y="2585641"/>
            <a:ext cx="44463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61880" y="2585641"/>
            <a:ext cx="11887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62540" y="3286026"/>
            <a:ext cx="368806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2540" y="2975521"/>
            <a:ext cx="5431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75064" y="2975521"/>
            <a:ext cx="47553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944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62540" y="3675906"/>
            <a:ext cx="368806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62540" y="3365401"/>
            <a:ext cx="56804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601186" y="3365401"/>
            <a:ext cx="5494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4D58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Yes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62540" y="3755281"/>
            <a:ext cx="75271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FAA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In-place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684708" y="3755281"/>
            <a:ext cx="4658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944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No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33940" y="4342011"/>
            <a:ext cx="4145260" cy="1485801"/>
          </a:xfrm>
          <a:prstGeom prst="roundRect">
            <a:avLst>
              <a:gd name="adj" fmla="val 5983"/>
            </a:avLst>
          </a:prstGeom>
          <a:solidFill>
            <a:srgbClr val="142038"/>
          </a:solidFill>
          <a:ln/>
        </p:spPr>
      </p:sp>
      <p:sp>
        <p:nvSpPr>
          <p:cNvPr id="30" name="Text 28"/>
          <p:cNvSpPr/>
          <p:nvPr/>
        </p:nvSpPr>
        <p:spPr>
          <a:xfrm>
            <a:off x="7437140" y="4545211"/>
            <a:ext cx="38510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5A70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RECURRENCE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37140" y="4822031"/>
            <a:ext cx="3851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4EC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T(n) = 2T(n/2) + 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37140" y="5134421"/>
            <a:ext cx="38510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O(n log n)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37140" y="5429052"/>
            <a:ext cx="3851026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70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 Theorem, Case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2800" y="5999510"/>
            <a:ext cx="29332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4EC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Piyush Dekate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6256040"/>
            <a:ext cx="3417391" cy="220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A70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PRN 25070521195 · Section D · III Semester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312400" y="6202710"/>
            <a:ext cx="1280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B8D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O(n log n)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ge Sort — Divide &amp; Conquer">
  <a:themeElements>
    <a:clrScheme name="Merge Sort — Divide &amp; Conquer">
      <a:dk1>
        <a:srgbClr val="1A2040"/>
      </a:dk1>
      <a:lt1>
        <a:srgbClr val="F4F6FF"/>
      </a:lt1>
      <a:dk2>
        <a:srgbClr val="515670"/>
      </a:dk2>
      <a:lt2>
        <a:srgbClr val="DEE1EC"/>
      </a:lt2>
      <a:accent1>
        <a:srgbClr val="34D58F"/>
      </a:accent1>
      <a:accent2>
        <a:srgbClr val="5B8DEE"/>
      </a:accent2>
      <a:accent3>
        <a:srgbClr val="8FAAD0"/>
      </a:accent3>
      <a:accent4>
        <a:srgbClr val="F5944E"/>
      </a:accent4>
      <a:accent5>
        <a:srgbClr val="5A6890"/>
      </a:accent5>
      <a:accent6>
        <a:srgbClr val="8A9ABF"/>
      </a:accent6>
      <a:hlink>
        <a:srgbClr val="0563C1"/>
      </a:hlink>
      <a:folHlink>
        <a:srgbClr val="954F72"/>
      </a:folHlink>
    </a:clrScheme>
    <a:fontScheme name="Merge Sort — Divide &amp; Conquer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— Divide &amp; Conquer</dc:title>
  <dc:subject/>
  <dc:creator/>
  <cp:lastModifiedBy/>
  <cp:revision>1</cp:revision>
  <dcterms:created xsi:type="dcterms:W3CDTF">2026-10-20T15:58:18Z</dcterms:created>
  <dcterms:modified xsi:type="dcterms:W3CDTF">2026-10-20T15:58:18Z</dcterms:modified>
</cp:coreProperties>
</file>